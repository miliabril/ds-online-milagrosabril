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63" r:id="rId2"/>
    <p:sldId id="259" r:id="rId3"/>
    <p:sldId id="262" r:id="rId4"/>
    <p:sldId id="256" r:id="rId5"/>
    <p:sldId id="260" r:id="rId6"/>
    <p:sldId id="258" r:id="rId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11219-71E2-441B-9135-07DAE38E99E9}" type="datetimeFigureOut">
              <a:rPr lang="es-ES" smtClean="0"/>
              <a:t>12/12/2025</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052339-3BC2-4007-90C1-BBA87AB0D7D5}" type="slidenum">
              <a:rPr lang="es-ES" smtClean="0"/>
              <a:t>‹Nº›</a:t>
            </a:fld>
            <a:endParaRPr lang="es-ES"/>
          </a:p>
        </p:txBody>
      </p:sp>
    </p:spTree>
    <p:extLst>
      <p:ext uri="{BB962C8B-B14F-4D97-AF65-F5344CB8AC3E}">
        <p14:creationId xmlns:p14="http://schemas.microsoft.com/office/powerpoint/2010/main" val="2915434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B052339-3BC2-4007-90C1-BBA87AB0D7D5}" type="slidenum">
              <a:rPr lang="es-ES" smtClean="0"/>
              <a:t>5</a:t>
            </a:fld>
            <a:endParaRPr lang="es-ES"/>
          </a:p>
        </p:txBody>
      </p:sp>
    </p:spTree>
    <p:extLst>
      <p:ext uri="{BB962C8B-B14F-4D97-AF65-F5344CB8AC3E}">
        <p14:creationId xmlns:p14="http://schemas.microsoft.com/office/powerpoint/2010/main" val="184457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79A7CB-DF8B-36CA-0E9C-C1B8960C9761}"/>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92EE0C2E-677B-3986-C33A-46EC7AF091A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F7D1ECA-BA7D-55F9-8F5C-2147F614F142}"/>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Marcador de pie de página 4">
            <a:extLst>
              <a:ext uri="{FF2B5EF4-FFF2-40B4-BE49-F238E27FC236}">
                <a16:creationId xmlns:a16="http://schemas.microsoft.com/office/drawing/2014/main" id="{A21DBCC3-A50E-829F-E687-31EF970C7D3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249AAAD-B9AB-586F-385A-CE0DE06EE165}"/>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7961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99F319-A875-BF2F-ECAD-0F447496996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E7D532A-F4ED-D93E-A33D-4702ED7B87E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F29B4B9-17B8-7A0E-314C-F0F5D60CE8DF}"/>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Marcador de pie de página 4">
            <a:extLst>
              <a:ext uri="{FF2B5EF4-FFF2-40B4-BE49-F238E27FC236}">
                <a16:creationId xmlns:a16="http://schemas.microsoft.com/office/drawing/2014/main" id="{E39D8566-7A7E-96BC-E3E6-F81F9F24EB04}"/>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7801FEE-109B-4D20-63F7-DD591BFD1DC4}"/>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018037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082A-1EE8-49E2-F941-DD6CAE2187D4}"/>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9D16EECC-21D5-800C-F609-681B5ADBCF73}"/>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C15453D-E9C6-D78E-1C74-14F9B0266999}"/>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Marcador de pie de página 4">
            <a:extLst>
              <a:ext uri="{FF2B5EF4-FFF2-40B4-BE49-F238E27FC236}">
                <a16:creationId xmlns:a16="http://schemas.microsoft.com/office/drawing/2014/main" id="{FE4841F1-E633-923C-4A43-3B6F98F2618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9067838-3D41-585E-A176-14D9698736A9}"/>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539960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25F13F-F906-2732-EEEB-99E325BAC12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B89B0C9-D42C-81A9-B0C1-761EE8D7BDA6}"/>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A232E50C-925E-7AF3-0CD0-F5DE4EE8EED5}"/>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D1C04916-EA22-4B21-0304-4EB5A19C4509}"/>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Marcador de pie de página 5">
            <a:extLst>
              <a:ext uri="{FF2B5EF4-FFF2-40B4-BE49-F238E27FC236}">
                <a16:creationId xmlns:a16="http://schemas.microsoft.com/office/drawing/2014/main" id="{A781158F-024F-2550-1136-35B355CA2C9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EC405BAC-3A61-9904-6691-BFF2809DAC13}"/>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022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19BD17-4419-6BB3-C196-26F4C6F1C920}"/>
              </a:ext>
            </a:extLst>
          </p:cNvPr>
          <p:cNvSpPr>
            <a:spLocks noGrp="1"/>
          </p:cNvSpPr>
          <p:nvPr>
            <p:ph type="title"/>
          </p:nvPr>
        </p:nvSpPr>
        <p:spPr>
          <a:xfrm>
            <a:off x="629841" y="365126"/>
            <a:ext cx="78867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0B5B552-1FD9-3A6C-EABD-DA27435CE0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70FA9F3-6E9F-9122-DBF2-6028B94D2D61}"/>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4451ED8-87D8-68E8-A57E-CD9F6F7AD28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6AFFCA0-A46D-E09A-7B8E-736B424E15F2}"/>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CFC7D4BF-0157-7FAF-812B-56567560CD90}"/>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8" name="Marcador de pie de página 7">
            <a:extLst>
              <a:ext uri="{FF2B5EF4-FFF2-40B4-BE49-F238E27FC236}">
                <a16:creationId xmlns:a16="http://schemas.microsoft.com/office/drawing/2014/main" id="{776E54EE-963C-8F0A-2CC1-533287A25199}"/>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E211EDB6-A135-637C-6FD3-1DD8AFE0FFE1}"/>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43037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7A2DCD-28BA-B1B6-906F-E8ED2C569EB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C3553922-F17A-BD78-0480-A9B0E76E94BD}"/>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4" name="Marcador de pie de página 3">
            <a:extLst>
              <a:ext uri="{FF2B5EF4-FFF2-40B4-BE49-F238E27FC236}">
                <a16:creationId xmlns:a16="http://schemas.microsoft.com/office/drawing/2014/main" id="{4FB97AA8-F87A-E966-1C68-87D9F9C6B599}"/>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FA3681A1-651B-A65C-4A9B-2AA479531D4E}"/>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45636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F64EF38-D6EA-1B30-08E9-A72D6AAF56CA}"/>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3" name="Marcador de pie de página 2">
            <a:extLst>
              <a:ext uri="{FF2B5EF4-FFF2-40B4-BE49-F238E27FC236}">
                <a16:creationId xmlns:a16="http://schemas.microsoft.com/office/drawing/2014/main" id="{F3306084-5DA5-84A9-D27E-DC09F5F48A08}"/>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67E649A7-7117-D8C6-4958-9FA6CF49A938}"/>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792394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92582-88C5-9F47-4E8E-7EB486E06CE6}"/>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2F14E6B-5F06-DC72-CDDF-04B86AF0984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0F764E7-DE72-3B0B-3C20-36B2AF69C7B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B58B205-4ABE-DA4A-23B6-D8BB4DB58971}"/>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Marcador de pie de página 5">
            <a:extLst>
              <a:ext uri="{FF2B5EF4-FFF2-40B4-BE49-F238E27FC236}">
                <a16:creationId xmlns:a16="http://schemas.microsoft.com/office/drawing/2014/main" id="{EF2B6227-1A38-9801-1E3E-776AC094911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B71A85B0-9F21-981D-9BDA-B9EB4BC645F5}"/>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59425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9E682E-2AAE-AC98-0E1C-C4B2621D0DC7}"/>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D0624B1D-C8F3-BD51-7B42-C2207A9A748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ES"/>
          </a:p>
        </p:txBody>
      </p:sp>
      <p:sp>
        <p:nvSpPr>
          <p:cNvPr id="4" name="Marcador de texto 3">
            <a:extLst>
              <a:ext uri="{FF2B5EF4-FFF2-40B4-BE49-F238E27FC236}">
                <a16:creationId xmlns:a16="http://schemas.microsoft.com/office/drawing/2014/main" id="{DD483D6B-2FC9-4263-3668-CD90AB32B07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D7F613F-89FA-4E6D-01A8-336F76D4F1CC}"/>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6" name="Marcador de pie de página 5">
            <a:extLst>
              <a:ext uri="{FF2B5EF4-FFF2-40B4-BE49-F238E27FC236}">
                <a16:creationId xmlns:a16="http://schemas.microsoft.com/office/drawing/2014/main" id="{845BBBFC-8302-1422-EEAB-6DF5B4E501CE}"/>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3130B3C-9F58-D41F-4C62-2AEBCA556C5D}"/>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0145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2E996F-A02B-E485-CCF2-0D06EA050E95}"/>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113128F-ED38-196E-57DE-D6134EADD8D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54A1F94-F04F-030F-A40B-4056B443AB2B}"/>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Marcador de pie de página 4">
            <a:extLst>
              <a:ext uri="{FF2B5EF4-FFF2-40B4-BE49-F238E27FC236}">
                <a16:creationId xmlns:a16="http://schemas.microsoft.com/office/drawing/2014/main" id="{241E019C-F84F-5C73-1E4A-A69CE10D19E2}"/>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B943A4C5-7DF4-B669-17DF-A1FB86D338A5}"/>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60168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9B6D3DD-9287-C726-FF75-DB7F1E0D2828}"/>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10D4E14-7CEA-864C-0474-8D687806452D}"/>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3440E33-950A-BA63-71DC-E827B13F6D35}"/>
              </a:ext>
            </a:extLst>
          </p:cNvPr>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Marcador de pie de página 4">
            <a:extLst>
              <a:ext uri="{FF2B5EF4-FFF2-40B4-BE49-F238E27FC236}">
                <a16:creationId xmlns:a16="http://schemas.microsoft.com/office/drawing/2014/main" id="{8FADB94F-2467-8BE0-25F9-E18024A7E9C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1D53870-B30A-7422-C2E5-58902F3DC9F2}"/>
              </a:ext>
            </a:extLst>
          </p:cNvPr>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9095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39A1160-7260-1D73-2E79-5314EBEE27F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89AFEAE3-F579-4500-366C-5D60AD2F6BA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E1786A3-12C3-9323-6C3F-8F3EE11FF63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BCAD085-E8A6-8845-BD4E-CB4CCA059FC4}" type="datetimeFigureOut">
              <a:rPr lang="en-US" smtClean="0"/>
              <a:t>12/12/2025</a:t>
            </a:fld>
            <a:endParaRPr lang="en-US"/>
          </a:p>
        </p:txBody>
      </p:sp>
      <p:sp>
        <p:nvSpPr>
          <p:cNvPr id="5" name="Marcador de pie de página 4">
            <a:extLst>
              <a:ext uri="{FF2B5EF4-FFF2-40B4-BE49-F238E27FC236}">
                <a16:creationId xmlns:a16="http://schemas.microsoft.com/office/drawing/2014/main" id="{4CF7DBD5-DC9A-2A8B-D59E-804034D3CB4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4D7E23F6-1926-AADF-E498-A7499250262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972561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8828098-C217-4C2B-A038-1F2B9CC20A51}"/>
              </a:ext>
            </a:extLst>
          </p:cNvPr>
          <p:cNvSpPr txBox="1"/>
          <p:nvPr/>
        </p:nvSpPr>
        <p:spPr>
          <a:xfrm>
            <a:off x="511277" y="459973"/>
            <a:ext cx="8121445" cy="523220"/>
          </a:xfrm>
          <a:prstGeom prst="rect">
            <a:avLst/>
          </a:prstGeom>
          <a:noFill/>
        </p:spPr>
        <p:txBody>
          <a:bodyPr wrap="square" rtlCol="0">
            <a:spAutoFit/>
          </a:bodyPr>
          <a:lstStyle/>
          <a:p>
            <a:pPr algn="ctr"/>
            <a:r>
              <a:rPr lang="es-ES" sz="2800" b="1" i="1" dirty="0"/>
              <a:t>ANÁLISIS EXPLORATORIO DEL TITANIC</a:t>
            </a:r>
          </a:p>
        </p:txBody>
      </p:sp>
      <p:sp>
        <p:nvSpPr>
          <p:cNvPr id="3" name="CuadroTexto 2">
            <a:extLst>
              <a:ext uri="{FF2B5EF4-FFF2-40B4-BE49-F238E27FC236}">
                <a16:creationId xmlns:a16="http://schemas.microsoft.com/office/drawing/2014/main" id="{06CBA4C7-3395-7B9A-65E6-F2554659621D}"/>
              </a:ext>
            </a:extLst>
          </p:cNvPr>
          <p:cNvSpPr txBox="1"/>
          <p:nvPr/>
        </p:nvSpPr>
        <p:spPr>
          <a:xfrm>
            <a:off x="619431" y="1208068"/>
            <a:ext cx="7964129" cy="707886"/>
          </a:xfrm>
          <a:prstGeom prst="rect">
            <a:avLst/>
          </a:prstGeom>
          <a:noFill/>
        </p:spPr>
        <p:txBody>
          <a:bodyPr wrap="square" rtlCol="0">
            <a:spAutoFit/>
          </a:bodyPr>
          <a:lstStyle/>
          <a:p>
            <a:pPr algn="ctr"/>
            <a:r>
              <a:rPr lang="es-ES" sz="2000" dirty="0"/>
              <a:t>Explorar los datos del </a:t>
            </a:r>
            <a:r>
              <a:rPr lang="es-ES" sz="2000" dirty="0" err="1"/>
              <a:t>Titanic</a:t>
            </a:r>
            <a:r>
              <a:rPr lang="es-ES" sz="2000" dirty="0"/>
              <a:t> para comprender </a:t>
            </a:r>
            <a:r>
              <a:rPr lang="es-ES" sz="2000" b="1" dirty="0"/>
              <a:t>qué factores influyeron en la supervivencia de los pasajeros</a:t>
            </a:r>
            <a:r>
              <a:rPr lang="es-ES" sz="2000" dirty="0"/>
              <a:t> durante el naufragio.</a:t>
            </a:r>
          </a:p>
        </p:txBody>
      </p:sp>
      <p:sp>
        <p:nvSpPr>
          <p:cNvPr id="4" name="CuadroTexto 3">
            <a:extLst>
              <a:ext uri="{FF2B5EF4-FFF2-40B4-BE49-F238E27FC236}">
                <a16:creationId xmlns:a16="http://schemas.microsoft.com/office/drawing/2014/main" id="{F593558F-F5AB-02B7-D272-0A17EF6025BE}"/>
              </a:ext>
            </a:extLst>
          </p:cNvPr>
          <p:cNvSpPr txBox="1"/>
          <p:nvPr/>
        </p:nvSpPr>
        <p:spPr>
          <a:xfrm>
            <a:off x="540774" y="2168182"/>
            <a:ext cx="8121445" cy="3247043"/>
          </a:xfrm>
          <a:prstGeom prst="rect">
            <a:avLst/>
          </a:prstGeom>
          <a:noFill/>
        </p:spPr>
        <p:txBody>
          <a:bodyPr wrap="square" rtlCol="0">
            <a:spAutoFit/>
          </a:bodyPr>
          <a:lstStyle/>
          <a:p>
            <a:r>
              <a:rPr lang="es-ES" b="1" dirty="0"/>
              <a:t>Preguntas que guían el análisis:</a:t>
            </a:r>
          </a:p>
          <a:p>
            <a:endParaRPr lang="es-ES" b="1" dirty="0"/>
          </a:p>
          <a:p>
            <a:pPr>
              <a:spcBef>
                <a:spcPts val="600"/>
              </a:spcBef>
              <a:buFont typeface="Arial" panose="020B0604020202020204" pitchFamily="34" charset="0"/>
              <a:buChar char="•"/>
            </a:pPr>
            <a:r>
              <a:rPr lang="es-ES" dirty="0"/>
              <a:t>¿Cuál fue la </a:t>
            </a:r>
            <a:r>
              <a:rPr lang="es-ES" b="1" dirty="0"/>
              <a:t>mortalidad general</a:t>
            </a:r>
            <a:r>
              <a:rPr lang="es-ES" dirty="0"/>
              <a:t> del desastre?</a:t>
            </a:r>
          </a:p>
          <a:p>
            <a:pPr>
              <a:spcBef>
                <a:spcPts val="600"/>
              </a:spcBef>
              <a:buFont typeface="Arial" panose="020B0604020202020204" pitchFamily="34" charset="0"/>
              <a:buChar char="•"/>
            </a:pPr>
            <a:r>
              <a:rPr lang="es-ES" dirty="0"/>
              <a:t>¿Existieron diferencias de supervivencia según el </a:t>
            </a:r>
            <a:r>
              <a:rPr lang="es-ES" b="1" dirty="0"/>
              <a:t>grupo poblacional</a:t>
            </a:r>
            <a:r>
              <a:rPr lang="es-ES" dirty="0"/>
              <a:t> (hombres, mujeres y niños)?</a:t>
            </a:r>
          </a:p>
          <a:p>
            <a:pPr>
              <a:spcBef>
                <a:spcPts val="600"/>
              </a:spcBef>
              <a:buFont typeface="Arial" panose="020B0604020202020204" pitchFamily="34" charset="0"/>
              <a:buChar char="•"/>
            </a:pPr>
            <a:r>
              <a:rPr lang="es-ES" dirty="0"/>
              <a:t>¿La consigna “</a:t>
            </a:r>
            <a:r>
              <a:rPr lang="es-ES" b="1" dirty="0"/>
              <a:t>mujeres y niños primero</a:t>
            </a:r>
            <a:r>
              <a:rPr lang="es-ES" dirty="0"/>
              <a:t>” se cumplió en la práctica?</a:t>
            </a:r>
          </a:p>
          <a:p>
            <a:pPr>
              <a:spcBef>
                <a:spcPts val="600"/>
              </a:spcBef>
              <a:buFont typeface="Arial" panose="020B0604020202020204" pitchFamily="34" charset="0"/>
              <a:buChar char="•"/>
            </a:pPr>
            <a:r>
              <a:rPr lang="es-ES" dirty="0"/>
              <a:t>¿La </a:t>
            </a:r>
            <a:r>
              <a:rPr lang="es-ES" b="1" dirty="0"/>
              <a:t>clase del pasaje</a:t>
            </a:r>
            <a:r>
              <a:rPr lang="es-ES" dirty="0"/>
              <a:t> influyó en la probabilidad de sobrevivir?</a:t>
            </a:r>
          </a:p>
          <a:p>
            <a:pPr>
              <a:spcBef>
                <a:spcPts val="600"/>
              </a:spcBef>
              <a:buFont typeface="Arial" panose="020B0604020202020204" pitchFamily="34" charset="0"/>
              <a:buChar char="•"/>
            </a:pPr>
            <a:r>
              <a:rPr lang="es-ES" dirty="0"/>
              <a:t>¿El </a:t>
            </a:r>
            <a:r>
              <a:rPr lang="es-ES" b="1" dirty="0"/>
              <a:t>puerto de embarque</a:t>
            </a:r>
            <a:r>
              <a:rPr lang="es-ES" dirty="0"/>
              <a:t> tuvo impacto real en la supervivencia o está mediado por la clase social?</a:t>
            </a:r>
          </a:p>
          <a:p>
            <a:endParaRPr lang="es-ES" dirty="0"/>
          </a:p>
        </p:txBody>
      </p:sp>
      <p:sp>
        <p:nvSpPr>
          <p:cNvPr id="5" name="CuadroTexto 4">
            <a:extLst>
              <a:ext uri="{FF2B5EF4-FFF2-40B4-BE49-F238E27FC236}">
                <a16:creationId xmlns:a16="http://schemas.microsoft.com/office/drawing/2014/main" id="{480F1F5B-6C02-80B8-FC0C-AB15BC20CD05}"/>
              </a:ext>
            </a:extLst>
          </p:cNvPr>
          <p:cNvSpPr txBox="1"/>
          <p:nvPr/>
        </p:nvSpPr>
        <p:spPr>
          <a:xfrm>
            <a:off x="540774" y="5649932"/>
            <a:ext cx="8121445" cy="646331"/>
          </a:xfrm>
          <a:prstGeom prst="rect">
            <a:avLst/>
          </a:prstGeom>
          <a:noFill/>
        </p:spPr>
        <p:txBody>
          <a:bodyPr wrap="square" rtlCol="0">
            <a:spAutoFit/>
          </a:bodyPr>
          <a:lstStyle/>
          <a:p>
            <a:pPr algn="ctr"/>
            <a:r>
              <a:rPr lang="es-ES" i="1" dirty="0"/>
              <a:t>A continuación, se presentan los gráficos y resultados que permiten responder estas preguntas.</a:t>
            </a:r>
          </a:p>
        </p:txBody>
      </p:sp>
    </p:spTree>
    <p:extLst>
      <p:ext uri="{BB962C8B-B14F-4D97-AF65-F5344CB8AC3E}">
        <p14:creationId xmlns:p14="http://schemas.microsoft.com/office/powerpoint/2010/main" val="3433746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865"/>
            <a:ext cx="8229600" cy="819200"/>
          </a:xfrm>
        </p:spPr>
        <p:txBody>
          <a:bodyPr>
            <a:normAutofit/>
          </a:bodyPr>
          <a:lstStyle/>
          <a:p>
            <a:pPr algn="ctr"/>
            <a:r>
              <a:rPr sz="2800" i="1" dirty="0" err="1"/>
              <a:t>Mortalidad</a:t>
            </a:r>
            <a:r>
              <a:rPr sz="2800" i="1" dirty="0"/>
              <a:t> general</a:t>
            </a:r>
          </a:p>
        </p:txBody>
      </p:sp>
      <p:pic>
        <p:nvPicPr>
          <p:cNvPr id="3" name="Picture 2" descr="mortalidad.png"/>
          <p:cNvPicPr>
            <a:picLocks noChangeAspect="1"/>
          </p:cNvPicPr>
          <p:nvPr/>
        </p:nvPicPr>
        <p:blipFill>
          <a:blip r:embed="rId2"/>
          <a:srcRect t="17809" b="18274"/>
          <a:stretch/>
        </p:blipFill>
        <p:spPr>
          <a:xfrm>
            <a:off x="1572349" y="1081549"/>
            <a:ext cx="5999302" cy="3834580"/>
          </a:xfrm>
          <a:prstGeom prst="rect">
            <a:avLst/>
          </a:prstGeom>
        </p:spPr>
      </p:pic>
      <p:sp>
        <p:nvSpPr>
          <p:cNvPr id="4" name="CuadroTexto 3">
            <a:extLst>
              <a:ext uri="{FF2B5EF4-FFF2-40B4-BE49-F238E27FC236}">
                <a16:creationId xmlns:a16="http://schemas.microsoft.com/office/drawing/2014/main" id="{FE4C942F-3AA9-E155-F559-655A4732388B}"/>
              </a:ext>
            </a:extLst>
          </p:cNvPr>
          <p:cNvSpPr txBox="1"/>
          <p:nvPr/>
        </p:nvSpPr>
        <p:spPr>
          <a:xfrm>
            <a:off x="555522" y="5250426"/>
            <a:ext cx="8229600" cy="1292662"/>
          </a:xfrm>
          <a:prstGeom prst="rect">
            <a:avLst/>
          </a:prstGeom>
          <a:noFill/>
        </p:spPr>
        <p:txBody>
          <a:bodyPr wrap="square" rtlCol="0">
            <a:spAutoFit/>
          </a:bodyPr>
          <a:lstStyle/>
          <a:p>
            <a:pPr algn="ctr"/>
            <a:r>
              <a:rPr lang="es-ES" sz="2000" dirty="0"/>
              <a:t>El desastre tuvo una mortalidad muy alta: más del 60% de los pasajeros fallecieron. Esto establece el contexto para analizar qué factores aumentaron la supervivencia.</a:t>
            </a:r>
          </a:p>
          <a:p>
            <a:pPr algn="ctr"/>
            <a:endParaRPr lang="es-E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17260" cy="637764"/>
          </a:xfrm>
        </p:spPr>
        <p:txBody>
          <a:bodyPr>
            <a:normAutofit/>
          </a:bodyPr>
          <a:lstStyle/>
          <a:p>
            <a:pPr algn="ctr"/>
            <a:r>
              <a:rPr lang="es-ES" sz="2800" i="1" dirty="0"/>
              <a:t>Sobrevivencia según grupo poblacional </a:t>
            </a:r>
            <a:endParaRPr sz="2800" i="1" dirty="0"/>
          </a:p>
        </p:txBody>
      </p:sp>
      <p:pic>
        <p:nvPicPr>
          <p:cNvPr id="3" name="Picture 2" descr="mujeresyniños.png"/>
          <p:cNvPicPr>
            <a:picLocks noChangeAspect="1"/>
          </p:cNvPicPr>
          <p:nvPr/>
        </p:nvPicPr>
        <p:blipFill>
          <a:blip r:embed="rId2"/>
          <a:srcRect l="5915" t="5816" r="8333" b="4749"/>
          <a:stretch/>
        </p:blipFill>
        <p:spPr>
          <a:xfrm>
            <a:off x="1582994" y="1002891"/>
            <a:ext cx="5506066" cy="4306871"/>
          </a:xfrm>
          <a:prstGeom prst="rect">
            <a:avLst/>
          </a:prstGeom>
        </p:spPr>
      </p:pic>
      <p:sp>
        <p:nvSpPr>
          <p:cNvPr id="4" name="CuadroTexto 3">
            <a:extLst>
              <a:ext uri="{FF2B5EF4-FFF2-40B4-BE49-F238E27FC236}">
                <a16:creationId xmlns:a16="http://schemas.microsoft.com/office/drawing/2014/main" id="{DE983F4F-2528-543A-CBA8-2E9ADD201820}"/>
              </a:ext>
            </a:extLst>
          </p:cNvPr>
          <p:cNvSpPr txBox="1"/>
          <p:nvPr/>
        </p:nvSpPr>
        <p:spPr>
          <a:xfrm>
            <a:off x="255639" y="5347361"/>
            <a:ext cx="8603226" cy="1200329"/>
          </a:xfrm>
          <a:prstGeom prst="rect">
            <a:avLst/>
          </a:prstGeom>
          <a:noFill/>
        </p:spPr>
        <p:txBody>
          <a:bodyPr wrap="square" rtlCol="0">
            <a:spAutoFit/>
          </a:bodyPr>
          <a:lstStyle/>
          <a:p>
            <a:pPr algn="ctr"/>
            <a:r>
              <a:rPr lang="es-ES" dirty="0"/>
              <a:t>La distribución de la supervivencia por grupos muestra que las mujeres (76%) y los niños (59%) sobrevivieron en mayor proporción que los hombres (16%), apoyando la idea de que se priorizó su rescate. Pero si analizamos la variable </a:t>
            </a:r>
            <a:r>
              <a:rPr lang="es-ES" i="1" dirty="0"/>
              <a:t>clase</a:t>
            </a:r>
            <a:r>
              <a:rPr lang="es-ES" dirty="0"/>
              <a:t>, la situación cambia…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709105" cy="667261"/>
          </a:xfrm>
        </p:spPr>
        <p:txBody>
          <a:bodyPr>
            <a:normAutofit/>
          </a:bodyPr>
          <a:lstStyle/>
          <a:p>
            <a:pPr algn="ctr"/>
            <a:r>
              <a:rPr lang="es-ES" sz="2800" i="1" dirty="0"/>
              <a:t>Sobrevivencia según clase</a:t>
            </a:r>
            <a:endParaRPr sz="2800" i="1" dirty="0"/>
          </a:p>
        </p:txBody>
      </p:sp>
      <p:pic>
        <p:nvPicPr>
          <p:cNvPr id="3" name="Picture 2" descr="clase_sobreviviente.png"/>
          <p:cNvPicPr>
            <a:picLocks noChangeAspect="1"/>
          </p:cNvPicPr>
          <p:nvPr/>
        </p:nvPicPr>
        <p:blipFill>
          <a:blip r:embed="rId2"/>
          <a:srcRect l="5914" t="5824" r="8871" b="4749"/>
          <a:stretch/>
        </p:blipFill>
        <p:spPr>
          <a:xfrm>
            <a:off x="1347019" y="1032387"/>
            <a:ext cx="5830529" cy="4589012"/>
          </a:xfrm>
          <a:prstGeom prst="rect">
            <a:avLst/>
          </a:prstGeom>
        </p:spPr>
      </p:pic>
      <p:sp>
        <p:nvSpPr>
          <p:cNvPr id="4" name="CuadroTexto 3">
            <a:extLst>
              <a:ext uri="{FF2B5EF4-FFF2-40B4-BE49-F238E27FC236}">
                <a16:creationId xmlns:a16="http://schemas.microsoft.com/office/drawing/2014/main" id="{26BE7549-46A2-B44A-9253-C04C2CA6E11C}"/>
              </a:ext>
            </a:extLst>
          </p:cNvPr>
          <p:cNvSpPr txBox="1"/>
          <p:nvPr/>
        </p:nvSpPr>
        <p:spPr>
          <a:xfrm>
            <a:off x="255639" y="5621399"/>
            <a:ext cx="8524567" cy="923330"/>
          </a:xfrm>
          <a:prstGeom prst="rect">
            <a:avLst/>
          </a:prstGeom>
          <a:noFill/>
        </p:spPr>
        <p:txBody>
          <a:bodyPr wrap="square" rtlCol="0">
            <a:spAutoFit/>
          </a:bodyPr>
          <a:lstStyle/>
          <a:p>
            <a:pPr algn="ctr"/>
            <a:r>
              <a:rPr lang="es-ES" dirty="0"/>
              <a:t>Aunque las mujeres y los niños presentaban una supervivencia mayor, la clase tuvo un impacto decisivo. Los pasajeros de primera clase sobrevivieron en mayor proporción, mientras que los de tercera clase fueron los más afectados.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568" y="517601"/>
            <a:ext cx="7561514" cy="686926"/>
          </a:xfrm>
        </p:spPr>
        <p:txBody>
          <a:bodyPr>
            <a:noAutofit/>
          </a:bodyPr>
          <a:lstStyle/>
          <a:p>
            <a:pPr algn="ctr"/>
            <a:r>
              <a:rPr lang="es-ES" sz="2800" i="1" dirty="0"/>
              <a:t>Mujeres y niños</a:t>
            </a:r>
            <a:br>
              <a:rPr lang="es-ES" sz="2800" i="1" dirty="0"/>
            </a:br>
            <a:r>
              <a:rPr lang="es-ES" sz="2800" i="1" dirty="0"/>
              <a:t>Según c</a:t>
            </a:r>
            <a:r>
              <a:rPr sz="2800" i="1" dirty="0"/>
              <a:t>lases</a:t>
            </a:r>
            <a:r>
              <a:rPr lang="es-ES" sz="2800" i="1" dirty="0"/>
              <a:t>        </a:t>
            </a:r>
            <a:r>
              <a:rPr sz="2800" i="1" dirty="0"/>
              <a:t> </a:t>
            </a:r>
            <a:r>
              <a:rPr lang="es-ES" sz="2800" i="1" dirty="0"/>
              <a:t>VS</a:t>
            </a:r>
            <a:r>
              <a:rPr lang="es-ES" sz="3200" b="1" i="1" dirty="0"/>
              <a:t>    </a:t>
            </a:r>
            <a:r>
              <a:rPr lang="es-ES" sz="2800" i="1" dirty="0"/>
              <a:t>     Supervivencia</a:t>
            </a:r>
            <a:endParaRPr sz="2800" i="1" dirty="0"/>
          </a:p>
        </p:txBody>
      </p:sp>
      <p:pic>
        <p:nvPicPr>
          <p:cNvPr id="3" name="Picture 2" descr="mujeres_niños_clases.png"/>
          <p:cNvPicPr>
            <a:picLocks noChangeAspect="1"/>
          </p:cNvPicPr>
          <p:nvPr/>
        </p:nvPicPr>
        <p:blipFill>
          <a:blip r:embed="rId3"/>
          <a:srcRect l="6989" t="5815" r="8736" b="5108"/>
          <a:stretch/>
        </p:blipFill>
        <p:spPr>
          <a:xfrm>
            <a:off x="205596" y="1474378"/>
            <a:ext cx="4366404" cy="3461415"/>
          </a:xfrm>
          <a:prstGeom prst="rect">
            <a:avLst/>
          </a:prstGeom>
        </p:spPr>
      </p:pic>
      <p:pic>
        <p:nvPicPr>
          <p:cNvPr id="4" name="Picture 2" descr="mujeres_niños_sobrevivientes.png"/>
          <p:cNvPicPr>
            <a:picLocks noChangeAspect="1"/>
          </p:cNvPicPr>
          <p:nvPr/>
        </p:nvPicPr>
        <p:blipFill>
          <a:blip r:embed="rId4"/>
          <a:srcRect l="6452" t="5817" r="8871" b="5287"/>
          <a:stretch/>
        </p:blipFill>
        <p:spPr>
          <a:xfrm>
            <a:off x="4542262" y="1474378"/>
            <a:ext cx="4396142" cy="3461415"/>
          </a:xfrm>
          <a:prstGeom prst="rect">
            <a:avLst/>
          </a:prstGeom>
        </p:spPr>
      </p:pic>
      <p:sp>
        <p:nvSpPr>
          <p:cNvPr id="5" name="CuadroTexto 4">
            <a:extLst>
              <a:ext uri="{FF2B5EF4-FFF2-40B4-BE49-F238E27FC236}">
                <a16:creationId xmlns:a16="http://schemas.microsoft.com/office/drawing/2014/main" id="{B7D35CAB-B7C1-28B9-191D-8256A0AD4129}"/>
              </a:ext>
            </a:extLst>
          </p:cNvPr>
          <p:cNvSpPr txBox="1"/>
          <p:nvPr/>
        </p:nvSpPr>
        <p:spPr>
          <a:xfrm>
            <a:off x="205596" y="5191434"/>
            <a:ext cx="8732808" cy="1200329"/>
          </a:xfrm>
          <a:prstGeom prst="rect">
            <a:avLst/>
          </a:prstGeom>
          <a:noFill/>
        </p:spPr>
        <p:txBody>
          <a:bodyPr wrap="square" rtlCol="0">
            <a:spAutoFit/>
          </a:bodyPr>
          <a:lstStyle/>
          <a:p>
            <a:pPr algn="ctr"/>
            <a:r>
              <a:rPr lang="es-ES" dirty="0"/>
              <a:t>Los gráficos muestran que los niños sobrevivieron menos porque la mayoría viajaba en tercera clase, donde la supervivencia era muy baja. En cambio, las mujeres estaban más distribuidas en clases altas, lo que aumentó sus posibilidades de llegar a los botes.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26910"/>
            <a:ext cx="7886700" cy="618100"/>
          </a:xfrm>
        </p:spPr>
        <p:txBody>
          <a:bodyPr>
            <a:noAutofit/>
          </a:bodyPr>
          <a:lstStyle/>
          <a:p>
            <a:pPr algn="ctr"/>
            <a:r>
              <a:rPr sz="2800" i="1" dirty="0"/>
              <a:t>Puerto de </a:t>
            </a:r>
            <a:r>
              <a:rPr sz="2800" i="1" dirty="0" err="1"/>
              <a:t>embarque</a:t>
            </a:r>
            <a:br>
              <a:rPr lang="es-ES" sz="2800" i="1" dirty="0"/>
            </a:br>
            <a:r>
              <a:rPr lang="es-ES" sz="2800" i="1" dirty="0"/>
              <a:t>Según clases           VS           sobreviviente</a:t>
            </a:r>
            <a:endParaRPr sz="2800" i="1" dirty="0"/>
          </a:p>
        </p:txBody>
      </p:sp>
      <p:pic>
        <p:nvPicPr>
          <p:cNvPr id="3" name="Picture 2" descr="embarque_sobreviviente.png"/>
          <p:cNvPicPr>
            <a:picLocks noChangeAspect="1"/>
          </p:cNvPicPr>
          <p:nvPr/>
        </p:nvPicPr>
        <p:blipFill>
          <a:blip r:embed="rId2"/>
          <a:srcRect l="6317" t="5826" r="9005" b="4928"/>
          <a:stretch/>
        </p:blipFill>
        <p:spPr>
          <a:xfrm>
            <a:off x="4572000" y="1321988"/>
            <a:ext cx="4334916" cy="3426648"/>
          </a:xfrm>
          <a:prstGeom prst="rect">
            <a:avLst/>
          </a:prstGeom>
        </p:spPr>
      </p:pic>
      <p:pic>
        <p:nvPicPr>
          <p:cNvPr id="5" name="Picture 2" descr="embarque_clases.png">
            <a:extLst>
              <a:ext uri="{FF2B5EF4-FFF2-40B4-BE49-F238E27FC236}">
                <a16:creationId xmlns:a16="http://schemas.microsoft.com/office/drawing/2014/main" id="{9CA59BA8-CB8E-6FDB-7ECA-C9477411F1E1}"/>
              </a:ext>
            </a:extLst>
          </p:cNvPr>
          <p:cNvPicPr>
            <a:picLocks noChangeAspect="1"/>
          </p:cNvPicPr>
          <p:nvPr/>
        </p:nvPicPr>
        <p:blipFill>
          <a:blip r:embed="rId3"/>
          <a:srcRect l="6015" t="5711" r="8323" b="5833"/>
          <a:stretch/>
        </p:blipFill>
        <p:spPr>
          <a:xfrm>
            <a:off x="147484" y="1321988"/>
            <a:ext cx="4424516" cy="3426647"/>
          </a:xfrm>
          <a:prstGeom prst="rect">
            <a:avLst/>
          </a:prstGeom>
        </p:spPr>
      </p:pic>
      <p:sp>
        <p:nvSpPr>
          <p:cNvPr id="6" name="CuadroTexto 5">
            <a:extLst>
              <a:ext uri="{FF2B5EF4-FFF2-40B4-BE49-F238E27FC236}">
                <a16:creationId xmlns:a16="http://schemas.microsoft.com/office/drawing/2014/main" id="{D86E4E19-F3D1-4F8B-91CA-952CF2C2B41D}"/>
              </a:ext>
            </a:extLst>
          </p:cNvPr>
          <p:cNvSpPr txBox="1"/>
          <p:nvPr/>
        </p:nvSpPr>
        <p:spPr>
          <a:xfrm>
            <a:off x="344128" y="5230761"/>
            <a:ext cx="8662220" cy="1200329"/>
          </a:xfrm>
          <a:prstGeom prst="rect">
            <a:avLst/>
          </a:prstGeom>
          <a:noFill/>
        </p:spPr>
        <p:txBody>
          <a:bodyPr wrap="square" rtlCol="0">
            <a:spAutoFit/>
          </a:bodyPr>
          <a:lstStyle/>
          <a:p>
            <a:pPr algn="ctr"/>
            <a:r>
              <a:rPr lang="es-ES" dirty="0"/>
              <a:t>Las diferencias de supervivencia entre puertos no reflejan un efecto del lugar de embarque, sino la clase social predominante en cada puerto: </a:t>
            </a:r>
            <a:r>
              <a:rPr lang="es-ES" dirty="0" err="1"/>
              <a:t>Cherbourg</a:t>
            </a:r>
            <a:r>
              <a:rPr lang="es-ES" dirty="0"/>
              <a:t> embarcó principalmente primera clase (alta supervivencia), mientras que </a:t>
            </a:r>
            <a:r>
              <a:rPr lang="es-ES" dirty="0" err="1"/>
              <a:t>Queenstown</a:t>
            </a:r>
            <a:r>
              <a:rPr lang="es-ES" dirty="0"/>
              <a:t> y Southampton embarcaron más tercera clase.</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44</TotalTime>
  <Words>351</Words>
  <Application>Microsoft Office PowerPoint</Application>
  <PresentationFormat>Presentación en pantalla (4:3)</PresentationFormat>
  <Paragraphs>21</Paragraphs>
  <Slides>6</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Aptos</vt:lpstr>
      <vt:lpstr>Aptos Display</vt:lpstr>
      <vt:lpstr>Arial</vt:lpstr>
      <vt:lpstr>Tema de Office</vt:lpstr>
      <vt:lpstr>Presentación de PowerPoint</vt:lpstr>
      <vt:lpstr>Mortalidad general</vt:lpstr>
      <vt:lpstr>Sobrevivencia según grupo poblacional </vt:lpstr>
      <vt:lpstr>Sobrevivencia según clase</vt:lpstr>
      <vt:lpstr>Mujeres y niños Según clases         VS         Supervivencia</vt:lpstr>
      <vt:lpstr>Puerto de embarque Según clases           VS           sobreviviente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Usuario</dc:creator>
  <cp:keywords/>
  <dc:description>generated using python-pptx</dc:description>
  <cp:lastModifiedBy>Milagros Abril</cp:lastModifiedBy>
  <cp:revision>3</cp:revision>
  <dcterms:created xsi:type="dcterms:W3CDTF">2013-01-27T09:14:16Z</dcterms:created>
  <dcterms:modified xsi:type="dcterms:W3CDTF">2025-12-12T14:13:04Z</dcterms:modified>
  <cp:category/>
</cp:coreProperties>
</file>